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98F52-7DA6-4A64-9BF1-399F92453EED}" v="96" dt="2026-09-27T13:20:17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92F5D-B033-40FE-828D-C01CB1F8AFEE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39108-676E-46B4-B149-FFF3E7127C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790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9108-676E-46B4-B149-FFF3E7127C69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699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2A20C2-213D-465A-BEA0-D4937EF85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C5056A9-4689-41DA-A4AC-260DC66AF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6F6B0C-959E-484D-8A62-C3443200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5C903F-A12A-4F80-8127-9D98A7EC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B3F54F6-E864-4A4F-BF62-A87D8CE0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1066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51213A-F466-49C1-BA1E-8895C9B7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8C63CD-D684-4144-8FF0-FA8A246F7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065529-66D3-4789-87F4-884D3487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AF1435-D7EF-4C32-8B84-B054E1CF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409C40-E543-4BE7-A89B-EF70E0F2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644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E6A106-8A2D-4D51-A37F-4D575728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31400BA-B708-4C2D-B548-9CDBEAA7A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C591EC-D1A8-4D00-9746-AAD3A922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4F58BD4-914F-4EA8-AC50-E273F636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062290-631B-41CF-A3E3-1A14AB17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208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D68D8C-8475-4339-8404-3476BB00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37B72E-487C-4200-9E2F-C671B3482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3542768-CD4F-4094-8A8D-7D6A0D90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466A68-F1D2-4024-BE99-B57D8373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646CF3-FA61-4BAA-AA35-2D80A9A3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326383B-9C42-43EA-BBC2-2FBE018D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466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C0CC95-28BE-4946-B4F1-FDDD46F6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D0BE761-AA21-430A-9D60-67C9E8EBD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4C7FDB2-FDD9-4105-8EB6-B62B27565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47284B0-F794-4C1B-B78E-1DF3B1D68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59AE2DE-ABC5-4E20-8FF6-96DCAC15B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C4655C7-7229-4BCB-96A0-01A0C003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A535662-6F23-4623-A8BD-1EAAB347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9B862F1-721B-4CA1-B95F-D8EF2391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984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5AC561-6713-430E-9A45-20B587DB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8D1911A-DFCE-41A8-AA31-234F56C1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4700561-84E7-4A07-98B1-1A223CC4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7B1EBF-2EFA-432F-82AC-1359D789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482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16DCC32-122F-4305-B6A4-914C51208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3EEBA86-CED4-4E1C-800F-3E99347A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934A3DE-BE25-499C-A073-08939457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733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486113-5D50-414F-A740-FD8F5A88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E0DFEA-69E6-4DF2-826F-C306F3F8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E25D2CE-DCDF-4F66-A92F-A38FAAEC1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386071E-BD03-49D2-80C3-F5EC8307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4D4D6CE-13E9-4C5A-81C9-5BA8B363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A3DBB7E-4BEC-475F-8152-D4459722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001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1CBDDD-20EA-4B99-B586-FFFF2000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9545829-C8AB-4AAC-99B2-8518AA3F4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A633E05-1076-45FA-84B5-BFDA4E100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4D7119B-6AE6-4263-A580-D4246766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0A1606-AA12-4B14-87AC-F0F7FA438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95A7E6E-E119-4842-B624-6F663046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529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44E98C-C0B3-4B15-9C7F-8F1486A7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834A4A9-3375-4D5E-B848-3883B7ACE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212FE2-120B-4FD1-AA05-C1DAF9B7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B00AA8E-B40F-4847-ACF8-C8A547A9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20825A9-70AE-45A4-BFB0-F5DEF0BA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199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CEACAA7-2895-4B20-8360-25B39D602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C9F077A-D6E0-4EB7-AD6F-68FECC795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D730E9-94E7-407B-A9C8-D02A3E64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EBD197E-4D33-4042-84F1-E36DCC37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0ED623-6E69-4935-A068-213E4F74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411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BA9137C-DA98-4F2F-8E43-DA9A005E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452EC5F-956E-4A99-9E3A-E2AF750B7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D7D7C0-8BBF-48F2-B573-FA052D568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E8794-284F-4254-AC64-5C602CC4B66F}" type="datetimeFigureOut">
              <a:rPr lang="hu-HU" smtClean="0"/>
              <a:t>2026. 09. 27.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CCD378-0417-4FB2-AB70-D07FB3A6C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E4379DC-0CF1-4AF0-9DF0-675BB9DA1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422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8B08D4-6AD0-4D44-A18B-7E6E449E8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16"/>
            <a:ext cx="9144000" cy="2387600"/>
          </a:xfrm>
        </p:spPr>
        <p:txBody>
          <a:bodyPr/>
          <a:lstStyle/>
          <a:p>
            <a:r>
              <a:rPr lang="hu-HU" dirty="0"/>
              <a:t>Autó Kozmetika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900DAAF-602A-4367-AF67-7FD920945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6487"/>
            <a:ext cx="9144000" cy="1655762"/>
          </a:xfrm>
        </p:spPr>
        <p:txBody>
          <a:bodyPr/>
          <a:lstStyle/>
          <a:p>
            <a:r>
              <a:rPr lang="hu-HU" dirty="0"/>
              <a:t>Vizsgaremek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E8E8535-3A08-4513-84F1-55E7C5B8E7B9}"/>
              </a:ext>
            </a:extLst>
          </p:cNvPr>
          <p:cNvSpPr txBox="1"/>
          <p:nvPr/>
        </p:nvSpPr>
        <p:spPr>
          <a:xfrm>
            <a:off x="5308600" y="4347698"/>
            <a:ext cx="157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/>
              <a:t>Joó Zoltán</a:t>
            </a:r>
          </a:p>
          <a:p>
            <a:pPr algn="ctr"/>
            <a:r>
              <a:rPr lang="hu-HU" sz="1200" dirty="0"/>
              <a:t>Deák Bence</a:t>
            </a:r>
          </a:p>
          <a:p>
            <a:pPr algn="ctr"/>
            <a:r>
              <a:rPr lang="hu-HU" sz="1200" dirty="0"/>
              <a:t>Hegedüs Milán</a:t>
            </a:r>
          </a:p>
          <a:p>
            <a:endParaRPr lang="hu-HU" sz="12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B87097C-0499-4347-9877-E7E3D3491FC4}"/>
              </a:ext>
            </a:extLst>
          </p:cNvPr>
          <p:cNvSpPr txBox="1"/>
          <p:nvPr/>
        </p:nvSpPr>
        <p:spPr>
          <a:xfrm>
            <a:off x="5490632" y="3424368"/>
            <a:ext cx="121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Készítette: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57E8CB9-36CB-F14C-2690-722ABCE0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1705" y="278704"/>
            <a:ext cx="19621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7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40465B-47BB-4223-A76D-0CBE985B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hu-HU" sz="5400" b="1"/>
              <a:t>Bevezetés</a:t>
            </a:r>
            <a:endParaRPr lang="hu-HU" sz="5400" b="1">
              <a:ea typeface="Calibri Light"/>
              <a:cs typeface="Calibri Light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F64287-BFA6-4B10-8936-B74B8840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hu-HU" sz="2200"/>
              <a:t>Egy olyan weboldal ami egy autókozmetika céget mutatna be aminek neve: </a:t>
            </a:r>
            <a:r>
              <a:rPr lang="hu-HU" sz="2200" b="1"/>
              <a:t>Vexora Detailing</a:t>
            </a:r>
          </a:p>
          <a:p>
            <a:r>
              <a:rPr lang="hu-HU" sz="2200"/>
              <a:t>Célja: különbözö jármüvek tisztitására ár ajánlatott kérni</a:t>
            </a:r>
          </a:p>
        </p:txBody>
      </p:sp>
      <p:pic>
        <p:nvPicPr>
          <p:cNvPr id="4" name="Kép 3" descr="Autómosó és -kozmetika - Prémium Autóház">
            <a:extLst>
              <a:ext uri="{FF2B5EF4-FFF2-40B4-BE49-F238E27FC236}">
                <a16:creationId xmlns:a16="http://schemas.microsoft.com/office/drawing/2014/main" id="{029B3E4A-6597-BD07-86B8-2E58C17B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01" r="557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6275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1E0B75-C70C-AFA2-4D6C-D91D854F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pPr>
              <a:lnSpc>
                <a:spcPts val="3038"/>
              </a:lnSpc>
              <a:spcBef>
                <a:spcPts val="0"/>
              </a:spcBef>
            </a:pPr>
            <a:r>
              <a:rPr lang="hu-HU" b="1" dirty="0">
                <a:latin typeface="Arial"/>
                <a:cs typeface="Arial"/>
              </a:rPr>
              <a:t>1. Specifikáció</a:t>
            </a:r>
            <a:r>
              <a:rPr lang="en-US" b="1" dirty="0">
                <a:latin typeface="Arial"/>
                <a:cs typeface="Arial"/>
              </a:rPr>
              <a:t> </a:t>
            </a:r>
            <a:endParaRPr lang="en-US">
              <a:latin typeface="Arial"/>
              <a:cs typeface="Arial"/>
            </a:endParaRPr>
          </a:p>
          <a:p>
            <a:endParaRPr lang="hu-HU" dirty="0">
              <a:ea typeface="Calibri Light"/>
              <a:cs typeface="Calibri Light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4BA33D7-B191-EE62-8A1A-8160F8BD564F}"/>
              </a:ext>
            </a:extLst>
          </p:cNvPr>
          <p:cNvSpPr txBox="1"/>
          <p:nvPr/>
        </p:nvSpPr>
        <p:spPr>
          <a:xfrm>
            <a:off x="0" y="934232"/>
            <a:ext cx="6096000" cy="24852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475"/>
              </a:lnSpc>
            </a:pPr>
            <a:r>
              <a:rPr lang="hu-HU" sz="1400" b="1" i="0" dirty="0">
                <a:latin typeface="Arial"/>
                <a:ea typeface="Arial"/>
                <a:cs typeface="Arial"/>
              </a:rPr>
              <a:t>1.1 Feladat leírása</a:t>
            </a:r>
            <a:r>
              <a:rPr sz="1400" b="1" i="0" dirty="0">
                <a:latin typeface="Arial"/>
                <a:ea typeface="Arial"/>
                <a:cs typeface="Arial"/>
              </a:rPr>
              <a:t> </a:t>
            </a:r>
            <a:endParaRPr lang="hu-HU" dirty="0"/>
          </a:p>
          <a:p>
            <a:pPr algn="l" rtl="0">
              <a:lnSpc>
                <a:spcPts val="2025"/>
              </a:lnSpc>
            </a:pPr>
            <a:r>
              <a:rPr lang="hu-HU" sz="1200" b="0" i="0" dirty="0">
                <a:latin typeface="Arial"/>
                <a:ea typeface="Arial"/>
                <a:cs typeface="Arial"/>
              </a:rPr>
              <a:t>A projekt célja a </a:t>
            </a:r>
            <a:r>
              <a:rPr lang="hu-HU" sz="1200" b="1" i="0" dirty="0" err="1">
                <a:latin typeface="Arial"/>
                <a:ea typeface="Arial"/>
                <a:cs typeface="Arial"/>
              </a:rPr>
              <a:t>Vexora</a:t>
            </a:r>
            <a:r>
              <a:rPr lang="hu-HU" sz="1200" b="1" i="0" dirty="0">
                <a:latin typeface="Arial"/>
                <a:ea typeface="Arial"/>
                <a:cs typeface="Arial"/>
              </a:rPr>
              <a:t> </a:t>
            </a:r>
            <a:r>
              <a:rPr lang="hu-HU" sz="1200" b="1" i="0" dirty="0" err="1">
                <a:latin typeface="Arial"/>
                <a:ea typeface="Arial"/>
                <a:cs typeface="Arial"/>
              </a:rPr>
              <a:t>Detailing</a:t>
            </a:r>
            <a:r>
              <a:rPr lang="hu-HU" sz="1200" b="0" i="0" dirty="0">
                <a:latin typeface="Arial"/>
                <a:ea typeface="Arial"/>
                <a:cs typeface="Arial"/>
              </a:rPr>
              <a:t> nevű prémium autókozmetikai vállalkozás online jelenlétének megteremtése és egy interaktív weboldal kifejlesztése. A weboldal elsődleges funkciója a cég szolgáltatásainak bemutatása mellett egy dinamikus </a:t>
            </a:r>
            <a:r>
              <a:rPr lang="hu-HU" sz="1200" b="1" i="0" dirty="0">
                <a:latin typeface="Arial"/>
                <a:ea typeface="Arial"/>
                <a:cs typeface="Arial"/>
              </a:rPr>
              <a:t>ár- és időtartam-kalkulátor</a:t>
            </a:r>
            <a:r>
              <a:rPr lang="hu-HU" sz="1200" b="0" i="0" dirty="0">
                <a:latin typeface="Arial"/>
                <a:ea typeface="Arial"/>
                <a:cs typeface="Arial"/>
              </a:rPr>
              <a:t> biztosítása. A rendszer lehetővé teszi a látogatók számára, hogy a járművük kategóriája és a választott autóápolási/</a:t>
            </a:r>
            <a:r>
              <a:rPr lang="hu-HU" sz="1200" b="0" i="0" dirty="0" err="1">
                <a:latin typeface="Arial"/>
                <a:ea typeface="Arial"/>
                <a:cs typeface="Arial"/>
              </a:rPr>
              <a:t>detailing</a:t>
            </a:r>
            <a:r>
              <a:rPr lang="hu-HU" sz="1200" b="0" i="0" dirty="0">
                <a:latin typeface="Arial"/>
                <a:ea typeface="Arial"/>
                <a:cs typeface="Arial"/>
              </a:rPr>
              <a:t> csomagok (pl. külső-belső takarítás, polírozás, kerámia bevonat) alapján azonnali, személyre szabott becslést kapjanak a várható költségekről és a munkavégzés időtartamáról.</a:t>
            </a:r>
            <a:r>
              <a:rPr sz="1200" b="0" i="0" dirty="0">
                <a:latin typeface="Arial"/>
                <a:ea typeface="Arial"/>
                <a:cs typeface="Arial"/>
              </a:rPr>
              <a:t> </a:t>
            </a:r>
          </a:p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A8E28FC-202B-97E3-E46B-A70CAF206A90}"/>
              </a:ext>
            </a:extLst>
          </p:cNvPr>
          <p:cNvSpPr txBox="1"/>
          <p:nvPr/>
        </p:nvSpPr>
        <p:spPr>
          <a:xfrm>
            <a:off x="0" y="3429000"/>
            <a:ext cx="6096000" cy="35317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475"/>
              </a:lnSpc>
            </a:pPr>
            <a:r>
              <a:rPr lang="hu-HU" sz="1400" b="1" i="0">
                <a:latin typeface="Arial"/>
                <a:ea typeface="Arial"/>
                <a:cs typeface="Arial"/>
              </a:rPr>
              <a:t>1.2 Használati esetek </a:t>
            </a:r>
            <a:r>
              <a:rPr sz="1400" b="1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Szolgáltatások böngészése:</a:t>
            </a:r>
            <a:r>
              <a:rPr lang="hu-HU" sz="1200" b="0" i="0">
                <a:latin typeface="Arial"/>
                <a:ea typeface="Arial"/>
                <a:cs typeface="Arial"/>
              </a:rPr>
              <a:t> A látogató áttekintheti a Vexora Detailing professzionális szolgáltatásait, részletes leírásokkal és referenciákkal.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Interaktív árajánlat-készítés (Kalkulátor):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Az ügyfél kiválasztja a jármű kategóriáját 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Kiválasztja a kívánt szolgáltatásokat 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A rendszer automatikusan kiszámítja a becsült árat és a szükséges munkaidőt (pl. 2-3 munkanap).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Időpont-egyeztetés / Ajánlat beküldése:</a:t>
            </a:r>
            <a:r>
              <a:rPr lang="hu-HU" sz="1200" b="0" i="0">
                <a:latin typeface="Arial"/>
                <a:ea typeface="Arial"/>
                <a:cs typeface="Arial"/>
              </a:rPr>
              <a:t> A kalkuláció végén az ügyfél egyetlen gombnyomással elküldheti az igényét a megadott adataival (név, telefonszám, e-mail, rendszám/típus).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endParaRPr/>
          </a:p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DEBDA12-F61B-6D79-D97E-DBE837F93384}"/>
              </a:ext>
            </a:extLst>
          </p:cNvPr>
          <p:cNvSpPr txBox="1"/>
          <p:nvPr/>
        </p:nvSpPr>
        <p:spPr>
          <a:xfrm>
            <a:off x="6096000" y="3554260"/>
            <a:ext cx="6096000" cy="3295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475"/>
              </a:lnSpc>
            </a:pPr>
            <a:r>
              <a:rPr lang="hu-HU" sz="1400" b="1" i="0">
                <a:latin typeface="Arial"/>
                <a:ea typeface="Arial"/>
                <a:cs typeface="Arial"/>
              </a:rPr>
              <a:t>1.3 Követelmények</a:t>
            </a:r>
            <a:r>
              <a:rPr sz="1400" b="1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Funkcionális követelmények: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Dinamikus árkalkulációs modul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Mobilbarát, reszponzív felület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Előtte-utána galéria a referenciamunkák bemutatására.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endParaRPr/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Kapcsolatfelvételi és ajánlatkérő űrlap.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Nem-funkcionális követelmények: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Esztétikus, modern, a prémium autóápoláshoz méltó dizájn.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200" b="0" i="0">
                <a:latin typeface="Arial"/>
                <a:ea typeface="Arial"/>
                <a:cs typeface="Arial"/>
              </a:rPr>
              <a:t>Gyors betöltési idő és zökkenőmentes működés.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endParaRPr/>
          </a:p>
          <a:p>
            <a:pPr algn="ctr"/>
            <a:endParaRPr lang="hu-HU"/>
          </a:p>
        </p:txBody>
      </p:sp>
      <p:pic>
        <p:nvPicPr>
          <p:cNvPr id="7" name="Kép 6" descr="Honlap-specifikáció: lehúzás, vagy tényleg annyira fontos? - Pixlab.hu">
            <a:extLst>
              <a:ext uri="{FF2B5EF4-FFF2-40B4-BE49-F238E27FC236}">
                <a16:creationId xmlns:a16="http://schemas.microsoft.com/office/drawing/2014/main" id="{1861170E-5BF4-034F-33B5-98DEF5D76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25" y="359841"/>
            <a:ext cx="5519801" cy="305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1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7D3974-A1AE-C64F-4F45-E8027281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b="1" dirty="0">
                <a:latin typeface="Arial"/>
                <a:cs typeface="Arial"/>
              </a:rPr>
              <a:t>2. Tervezés</a:t>
            </a:r>
          </a:p>
          <a:p>
            <a:endParaRPr lang="hu-HU" dirty="0">
              <a:ea typeface="Calibri Light"/>
              <a:cs typeface="Calibri Light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FE10868-0813-5A50-9DF3-76EEA12858FA}"/>
              </a:ext>
            </a:extLst>
          </p:cNvPr>
          <p:cNvSpPr txBox="1"/>
          <p:nvPr/>
        </p:nvSpPr>
        <p:spPr>
          <a:xfrm>
            <a:off x="0" y="1717109"/>
            <a:ext cx="6096000" cy="1967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475"/>
              </a:lnSpc>
            </a:pPr>
            <a:r>
              <a:rPr lang="hu-HU" sz="1400" b="1" i="0">
                <a:latin typeface="Arial"/>
                <a:ea typeface="Arial"/>
                <a:cs typeface="Arial"/>
              </a:rPr>
              <a:t>2.1 Alkalmazás</a:t>
            </a:r>
            <a:r>
              <a:rPr sz="1400" b="1" i="0">
                <a:latin typeface="Arial"/>
                <a:ea typeface="Arial"/>
                <a:cs typeface="Arial"/>
              </a:rPr>
              <a:t> </a:t>
            </a:r>
          </a:p>
          <a:p>
            <a:pPr algn="l" rtl="0">
              <a:lnSpc>
                <a:spcPts val="1781"/>
              </a:lnSpc>
            </a:pPr>
            <a:r>
              <a:rPr lang="hu-HU" sz="1400" b="1" i="0">
                <a:latin typeface="Calibri Light"/>
                <a:ea typeface="Calibri Light"/>
                <a:cs typeface="Calibri Light"/>
              </a:rPr>
              <a:t>2.1.1 Alap információk</a:t>
            </a:r>
            <a:r>
              <a:rPr sz="1400" b="1" i="0">
                <a:latin typeface="Calibri Light"/>
                <a:ea typeface="Calibri Light"/>
                <a:cs typeface="Calibri Light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Projekt neve:</a:t>
            </a:r>
            <a:r>
              <a:rPr lang="hu-HU" sz="1200" b="0" i="0">
                <a:latin typeface="Arial"/>
                <a:ea typeface="Arial"/>
                <a:cs typeface="Arial"/>
              </a:rPr>
              <a:t> Vexora Detailing Weboldal és Interaktív Kalkulátor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Célcsoport:</a:t>
            </a:r>
            <a:r>
              <a:rPr lang="hu-HU" sz="1200" b="0" i="0">
                <a:latin typeface="Arial"/>
                <a:ea typeface="Arial"/>
                <a:cs typeface="Arial"/>
              </a:rPr>
              <a:t> Igényes autó, prémium kategóriás jármű tulajdonosok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Technológiai környezet: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endParaRPr/>
          </a:p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36AD3B6-2639-0741-4E82-F3D0B0500F32}"/>
              </a:ext>
            </a:extLst>
          </p:cNvPr>
          <p:cNvSpPr txBox="1"/>
          <p:nvPr/>
        </p:nvSpPr>
        <p:spPr>
          <a:xfrm>
            <a:off x="5417507" y="2708753"/>
            <a:ext cx="6096000" cy="2416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781"/>
              </a:lnSpc>
            </a:pPr>
            <a:r>
              <a:rPr lang="hu-HU" sz="1400" b="1" i="0">
                <a:latin typeface="Calibri Light"/>
                <a:ea typeface="Calibri Light"/>
                <a:cs typeface="Calibri Light"/>
              </a:rPr>
              <a:t>2.1.2 Telepített szolgáltatások és egyéb alkalmazások</a:t>
            </a:r>
            <a:r>
              <a:rPr sz="1400" b="1" i="0">
                <a:latin typeface="Calibri Light"/>
                <a:ea typeface="Calibri Light"/>
                <a:cs typeface="Calibri Light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Webszerver és Tárhely:</a:t>
            </a:r>
            <a:r>
              <a:rPr lang="hu-HU" sz="1200" b="0" i="0">
                <a:latin typeface="Arial"/>
                <a:ea typeface="Arial"/>
                <a:cs typeface="Arial"/>
              </a:rPr>
              <a:t> Gyors, megbízható SSD alapú hoszting a gyors képbetöltés érdekében.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Képoptimalizáló modul:</a:t>
            </a:r>
            <a:r>
              <a:rPr lang="hu-HU" sz="1200" b="0" i="0">
                <a:latin typeface="Arial"/>
                <a:ea typeface="Arial"/>
                <a:cs typeface="Arial"/>
              </a:rPr>
              <a:t> A feltöltött nagy felbontású referenciaképek automatikus tömörítése a gyors oldalbetöltésért.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Email / Értesítési rendszer:</a:t>
            </a:r>
            <a:r>
              <a:rPr lang="hu-HU" sz="1200" b="0" i="0">
                <a:latin typeface="Arial"/>
                <a:ea typeface="Arial"/>
                <a:cs typeface="Arial"/>
              </a:rPr>
              <a:t> Azonnali e-mail értesítés küldése a műhelynek, ha egy ügyfél árajánlatot kér a kalkulátoron keresztül.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endParaRPr/>
          </a:p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720E232-8D18-EDE8-0677-8422D1398E0A}"/>
              </a:ext>
            </a:extLst>
          </p:cNvPr>
          <p:cNvSpPr txBox="1"/>
          <p:nvPr/>
        </p:nvSpPr>
        <p:spPr>
          <a:xfrm>
            <a:off x="0" y="3533384"/>
            <a:ext cx="6096000" cy="31854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780"/>
              </a:lnSpc>
            </a:pPr>
            <a:r>
              <a:rPr lang="hu-HU" sz="1400" b="1" dirty="0">
                <a:latin typeface="Calibri Light"/>
                <a:ea typeface="Calibri Light"/>
                <a:cs typeface="Calibri Light"/>
              </a:rPr>
              <a:t>2.1.3 A rendszer felhasználói fiókok és csoportjai</a:t>
            </a:r>
            <a:r>
              <a:rPr lang="en-US" sz="1400" b="1" dirty="0">
                <a:latin typeface="Calibri Light"/>
                <a:ea typeface="Calibri Light"/>
                <a:cs typeface="Calibri Light"/>
              </a:rPr>
              <a:t> </a:t>
            </a:r>
            <a:endParaRPr lang="en-US" sz="1400" dirty="0">
              <a:latin typeface="Calibri Light"/>
              <a:ea typeface="Calibri Light"/>
              <a:cs typeface="Calibri Light"/>
            </a:endParaRPr>
          </a:p>
          <a:p>
            <a:pPr marL="228600" indent="-228600">
              <a:lnSpc>
                <a:spcPts val="2025"/>
              </a:lnSpc>
              <a:buFont typeface="Symbol,sans-serif"/>
              <a:buChar char="•"/>
            </a:pPr>
            <a:r>
              <a:rPr lang="hu-HU" sz="1200" b="1" dirty="0">
                <a:latin typeface="Arial"/>
                <a:cs typeface="Arial"/>
              </a:rPr>
              <a:t>Látogató / Ügyfél: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sz="1200" dirty="0">
                <a:latin typeface="Arial"/>
                <a:cs typeface="Arial"/>
              </a:rPr>
              <a:t>Böngészheti a szolgáltatásokat és a galériát.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sz="1200" dirty="0">
                <a:latin typeface="Arial"/>
                <a:cs typeface="Arial"/>
              </a:rPr>
              <a:t>Használhatja az árajánlat-kalkulátort regisztráció nélkül is.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sz="1200" dirty="0">
                <a:latin typeface="Arial"/>
                <a:cs typeface="Arial"/>
              </a:rPr>
              <a:t>Ajánlatot küldhet be a megadott adataival.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pPr marL="228600" indent="-228600">
              <a:lnSpc>
                <a:spcPts val="2025"/>
              </a:lnSpc>
              <a:buFont typeface="Symbol,sans-serif"/>
              <a:buChar char="•"/>
            </a:pPr>
            <a:r>
              <a:rPr lang="hu-HU" sz="1200" b="1" dirty="0">
                <a:latin typeface="Arial"/>
                <a:cs typeface="Arial"/>
              </a:rPr>
              <a:t>Adminisztrátor (</a:t>
            </a:r>
            <a:r>
              <a:rPr lang="hu-HU" sz="1200" b="1" dirty="0" err="1">
                <a:latin typeface="Arial"/>
                <a:cs typeface="Arial"/>
              </a:rPr>
              <a:t>Vexora</a:t>
            </a:r>
            <a:r>
              <a:rPr lang="hu-HU" sz="1200" b="1" dirty="0">
                <a:latin typeface="Arial"/>
                <a:cs typeface="Arial"/>
              </a:rPr>
              <a:t> Műhelyvezető):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endParaRPr lang="en-US" dirty="0">
              <a:ea typeface="Calibri"/>
              <a:cs typeface="Calibri"/>
            </a:endParaRP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sz="1200" dirty="0">
                <a:latin typeface="Arial"/>
                <a:cs typeface="Arial"/>
              </a:rPr>
              <a:t>Kezelheti a kalkulátor árait, járműkategóriáit és szolgáltatásait a háttérben (CMS felületen keresztül).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sz="1200" dirty="0">
                <a:latin typeface="Arial"/>
                <a:cs typeface="Arial"/>
              </a:rPr>
              <a:t>Megtekintheti és kezelheti a weboldalon </a:t>
            </a:r>
            <a:r>
              <a:rPr lang="hu-HU" sz="1200" dirty="0" err="1">
                <a:latin typeface="Arial"/>
                <a:cs typeface="Arial"/>
              </a:rPr>
              <a:t>beértkezett</a:t>
            </a:r>
            <a:r>
              <a:rPr lang="hu-HU" sz="1200" dirty="0">
                <a:latin typeface="Arial"/>
                <a:cs typeface="Arial"/>
              </a:rPr>
              <a:t> árajánlatkéréseket.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sz="1200" dirty="0">
                <a:latin typeface="Arial"/>
                <a:cs typeface="Arial"/>
              </a:rPr>
              <a:t>Feltöltheti a friss "előtte-utána" fotókat a referenciák közé.</a:t>
            </a:r>
            <a:r>
              <a:rPr lang="en-US" sz="1200" dirty="0">
                <a:latin typeface="Arial"/>
                <a:cs typeface="Arial"/>
              </a:rPr>
              <a:t> </a:t>
            </a:r>
          </a:p>
          <a:p>
            <a:pPr algn="ctr"/>
            <a:endParaRPr lang="hu-HU" dirty="0">
              <a:ea typeface="Calibri"/>
              <a:cs typeface="Calibri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D126A7A-66B9-EAB1-7957-327BAB453401}"/>
              </a:ext>
            </a:extLst>
          </p:cNvPr>
          <p:cNvSpPr txBox="1"/>
          <p:nvPr/>
        </p:nvSpPr>
        <p:spPr>
          <a:xfrm>
            <a:off x="6096001" y="5130452"/>
            <a:ext cx="6096000" cy="1903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781"/>
              </a:lnSpc>
            </a:pPr>
            <a:r>
              <a:rPr lang="hu-HU" sz="1400" b="1" i="0">
                <a:latin typeface="Calibri Light"/>
                <a:ea typeface="Calibri Light"/>
                <a:cs typeface="Calibri Light"/>
              </a:rPr>
              <a:t>2.1.4 Mentés és monitorozás</a:t>
            </a:r>
            <a:r>
              <a:rPr sz="1400" b="1" i="0">
                <a:latin typeface="Calibri Light"/>
                <a:ea typeface="Calibri Light"/>
                <a:cs typeface="Calibri Light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Adatmentés:</a:t>
            </a:r>
            <a:r>
              <a:rPr lang="hu-HU" sz="1200" b="0" i="0">
                <a:latin typeface="Arial"/>
                <a:ea typeface="Arial"/>
                <a:cs typeface="Arial"/>
              </a:rPr>
              <a:t> Heti automatikus biztonsági mentés a weboldal fájljairól és az adatbázisról az esetleges adatvesztés megelőzésére.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200" b="1" i="0">
                <a:latin typeface="Arial"/>
                <a:ea typeface="Arial"/>
                <a:cs typeface="Arial"/>
              </a:rPr>
              <a:t>Monitorozás:</a:t>
            </a:r>
            <a:r>
              <a:rPr lang="hu-HU" sz="1200" b="0" i="0">
                <a:latin typeface="Arial"/>
                <a:ea typeface="Arial"/>
                <a:cs typeface="Arial"/>
              </a:rPr>
              <a:t> Weboldal elérhetőségének ellenőrzése és SSL-tanúsítvány (biztonságos HTTPS kapcsolat) folyamatos felügyelete.</a:t>
            </a:r>
            <a:r>
              <a:rPr sz="1200" b="0" i="0">
                <a:latin typeface="Arial"/>
                <a:ea typeface="Arial"/>
                <a:cs typeface="Arial"/>
              </a:rPr>
              <a:t> </a:t>
            </a:r>
          </a:p>
          <a:p>
            <a:endParaRPr/>
          </a:p>
          <a:p>
            <a:pPr algn="ctr"/>
            <a:endParaRPr lang="hu-HU"/>
          </a:p>
        </p:txBody>
      </p:sp>
      <p:pic>
        <p:nvPicPr>
          <p:cNvPr id="8" name="Kép 7" descr="Tervezés és stratégia – III / 1. - Gondolkodók Klubja">
            <a:extLst>
              <a:ext uri="{FF2B5EF4-FFF2-40B4-BE49-F238E27FC236}">
                <a16:creationId xmlns:a16="http://schemas.microsoft.com/office/drawing/2014/main" id="{C90AE570-8D49-9602-C38F-6B1AC3B87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031" y="119290"/>
            <a:ext cx="4987446" cy="24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2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</Words>
  <Application>Microsoft Office PowerPoint</Application>
  <PresentationFormat>Szélesvásznú</PresentationFormat>
  <Paragraphs>10</Paragraphs>
  <Slides>4</Slides>
  <Notes>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5" baseType="lpstr">
      <vt:lpstr>Office-téma</vt:lpstr>
      <vt:lpstr>Autó Kozmetika</vt:lpstr>
      <vt:lpstr>Bevezetés</vt:lpstr>
      <vt:lpstr>1. Specifikáció  </vt:lpstr>
      <vt:lpstr>2. Tervezés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Autó Kozmetika</dc:title>
  <dc:creator>Deák Bence István</dc:creator>
  <cp:lastModifiedBy>Deák Bence István</cp:lastModifiedBy>
  <cp:revision>57</cp:revision>
  <dcterms:created xsi:type="dcterms:W3CDTF">2026-09-24T11:08:48Z</dcterms:created>
  <dcterms:modified xsi:type="dcterms:W3CDTF">2026-09-27T13:22:19Z</dcterms:modified>
</cp:coreProperties>
</file>