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0" r:id="rId1"/>
  </p:sldMasterIdLst>
  <p:notesMasterIdLst>
    <p:notesMasterId r:id="rId25"/>
  </p:notesMasterIdLst>
  <p:sldIdLst>
    <p:sldId id="256" r:id="rId2"/>
    <p:sldId id="257" r:id="rId3"/>
    <p:sldId id="273" r:id="rId4"/>
    <p:sldId id="258" r:id="rId5"/>
    <p:sldId id="260" r:id="rId6"/>
    <p:sldId id="261" r:id="rId7"/>
    <p:sldId id="259" r:id="rId8"/>
    <p:sldId id="262" r:id="rId9"/>
    <p:sldId id="263" r:id="rId10"/>
    <p:sldId id="264" r:id="rId11"/>
    <p:sldId id="265" r:id="rId12"/>
    <p:sldId id="269" r:id="rId13"/>
    <p:sldId id="270" r:id="rId14"/>
    <p:sldId id="266" r:id="rId15"/>
    <p:sldId id="267" r:id="rId16"/>
    <p:sldId id="271" r:id="rId17"/>
    <p:sldId id="268" r:id="rId18"/>
    <p:sldId id="274" r:id="rId19"/>
    <p:sldId id="272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ák Bence István" initials="DBI" lastIdx="1" clrIdx="0">
    <p:extLst>
      <p:ext uri="{19B8F6BF-5375-455C-9EA6-DF929625EA0E}">
        <p15:presenceInfo xmlns:p15="http://schemas.microsoft.com/office/powerpoint/2012/main" userId="S-1-5-21-730177465-33074289-1675512044-126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23" autoAdjust="0"/>
  </p:normalViewPr>
  <p:slideViewPr>
    <p:cSldViewPr snapToGrid="0">
      <p:cViewPr varScale="1">
        <p:scale>
          <a:sx n="102" d="100"/>
          <a:sy n="102" d="100"/>
        </p:scale>
        <p:origin x="138" y="25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92F5D-B033-40FE-828D-C01CB1F8AFEE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39108-676E-46B4-B149-FFF3E7127C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7908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39108-676E-46B4-B149-FFF3E7127C69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699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097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9509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485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635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794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705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0103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8826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014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826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0644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1577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7849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124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6702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4905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543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E8794-284F-4254-AC64-5C602CC4B66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18710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4" r:id="rId14"/>
    <p:sldLayoutId id="2147483895" r:id="rId15"/>
    <p:sldLayoutId id="2147483896" r:id="rId16"/>
    <p:sldLayoutId id="214748389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8B08D4-6AD0-4D44-A18B-7E6E449E8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4154" y="113438"/>
            <a:ext cx="9144000" cy="2387600"/>
          </a:xfrm>
        </p:spPr>
        <p:txBody>
          <a:bodyPr/>
          <a:lstStyle/>
          <a:p>
            <a:r>
              <a:rPr lang="hu-HU" dirty="0"/>
              <a:t>Autó Kozmetika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900DAAF-602A-4367-AF67-7FD920945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5561" y="2743121"/>
            <a:ext cx="9144000" cy="1655762"/>
          </a:xfrm>
        </p:spPr>
        <p:txBody>
          <a:bodyPr/>
          <a:lstStyle/>
          <a:p>
            <a:r>
              <a:rPr lang="hu-HU" dirty="0"/>
              <a:t>Vizsgaremek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E8E8535-3A08-4513-84F1-55E7C5B8E7B9}"/>
              </a:ext>
            </a:extLst>
          </p:cNvPr>
          <p:cNvSpPr txBox="1"/>
          <p:nvPr/>
        </p:nvSpPr>
        <p:spPr>
          <a:xfrm>
            <a:off x="5308600" y="4347698"/>
            <a:ext cx="157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/>
              <a:t>Joó Zoltán</a:t>
            </a:r>
          </a:p>
          <a:p>
            <a:pPr algn="ctr"/>
            <a:r>
              <a:rPr lang="hu-HU" sz="1200" dirty="0"/>
              <a:t>Deák Bence</a:t>
            </a:r>
          </a:p>
          <a:p>
            <a:pPr algn="ctr"/>
            <a:r>
              <a:rPr lang="hu-HU" sz="1200" dirty="0"/>
              <a:t>Hegedüs Milán</a:t>
            </a:r>
          </a:p>
          <a:p>
            <a:endParaRPr lang="hu-HU" sz="12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B87097C-0499-4347-9877-E7E3D3491FC4}"/>
              </a:ext>
            </a:extLst>
          </p:cNvPr>
          <p:cNvSpPr txBox="1"/>
          <p:nvPr/>
        </p:nvSpPr>
        <p:spPr>
          <a:xfrm>
            <a:off x="5490632" y="3424368"/>
            <a:ext cx="1210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Készítette: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57E8CB9-36CB-F14C-2690-722ABCE0B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0" y="304721"/>
            <a:ext cx="19621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7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40465B-47BB-4223-A76D-0CBE985B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704" y="-461913"/>
            <a:ext cx="4368602" cy="1956841"/>
          </a:xfrm>
        </p:spPr>
        <p:txBody>
          <a:bodyPr anchor="b">
            <a:normAutofit/>
          </a:bodyPr>
          <a:lstStyle/>
          <a:p>
            <a:r>
              <a:rPr lang="hu-HU" sz="5400" b="1" dirty="0"/>
              <a:t>Bevezetés</a:t>
            </a:r>
            <a:endParaRPr lang="hu-HU" sz="5400" b="1" dirty="0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F64287-BFA6-4B10-8936-B74B8840E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hu-HU" sz="2200"/>
              <a:t>Egy olyan weboldal ami egy autókozmetika céget mutatna be aminek neve: </a:t>
            </a:r>
            <a:r>
              <a:rPr lang="hu-HU" sz="2200" b="1"/>
              <a:t>Vexora Detailing</a:t>
            </a:r>
          </a:p>
          <a:p>
            <a:r>
              <a:rPr lang="hu-HU" sz="2200"/>
              <a:t>Célja: különbözö jármüvek tisztitására ár ajánlatott kérni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7561BF5-1DAE-427F-BFC4-9B959E400161}"/>
              </a:ext>
            </a:extLst>
          </p:cNvPr>
          <p:cNvSpPr txBox="1"/>
          <p:nvPr/>
        </p:nvSpPr>
        <p:spPr>
          <a:xfrm>
            <a:off x="8255976" y="2688233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Autó mosás kép</a:t>
            </a:r>
          </a:p>
        </p:txBody>
      </p:sp>
    </p:spTree>
    <p:extLst>
      <p:ext uri="{BB962C8B-B14F-4D97-AF65-F5344CB8AC3E}">
        <p14:creationId xmlns:p14="http://schemas.microsoft.com/office/powerpoint/2010/main" val="166275603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BD16F4-5B70-4050-8ED0-567D829C5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22" y="0"/>
            <a:ext cx="9905998" cy="1478570"/>
          </a:xfrm>
        </p:spPr>
        <p:txBody>
          <a:bodyPr/>
          <a:lstStyle/>
          <a:p>
            <a:r>
              <a:rPr lang="hu-HU" dirty="0"/>
              <a:t>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907A15-D950-4146-B215-3040A0FA8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322" y="1307927"/>
            <a:ext cx="9905999" cy="3541714"/>
          </a:xfrm>
        </p:spPr>
        <p:txBody>
          <a:bodyPr/>
          <a:lstStyle/>
          <a:p>
            <a:r>
              <a:rPr lang="hu-HU" dirty="0"/>
              <a:t>Regisztrálás</a:t>
            </a:r>
          </a:p>
          <a:p>
            <a:r>
              <a:rPr lang="hu-HU" dirty="0"/>
              <a:t>Bejelentkezés</a:t>
            </a:r>
          </a:p>
          <a:p>
            <a:r>
              <a:rPr lang="hu-HU" dirty="0"/>
              <a:t>kijelentkezés</a:t>
            </a:r>
          </a:p>
          <a:p>
            <a:r>
              <a:rPr lang="hu-HU" dirty="0"/>
              <a:t>Számlaírás</a:t>
            </a:r>
          </a:p>
          <a:p>
            <a:r>
              <a:rPr lang="hu-HU" dirty="0"/>
              <a:t>Kapcsolatfelvétel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71105314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1E0B75-C70C-AFA2-4D6C-D91D854F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792" y="0"/>
            <a:ext cx="10515600" cy="1325563"/>
          </a:xfrm>
        </p:spPr>
        <p:txBody>
          <a:bodyPr/>
          <a:lstStyle/>
          <a:p>
            <a:pPr>
              <a:lnSpc>
                <a:spcPts val="3038"/>
              </a:lnSpc>
              <a:spcBef>
                <a:spcPts val="0"/>
              </a:spcBef>
            </a:pPr>
            <a:r>
              <a:rPr lang="hu-HU" b="1" dirty="0">
                <a:latin typeface="Arial"/>
                <a:cs typeface="Arial"/>
              </a:rPr>
              <a:t>Specifikáció</a:t>
            </a:r>
            <a:r>
              <a:rPr lang="en-US" b="1" dirty="0">
                <a:latin typeface="Arial"/>
                <a:cs typeface="Arial"/>
              </a:rPr>
              <a:t> </a:t>
            </a:r>
            <a:endParaRPr lang="en-US" dirty="0">
              <a:latin typeface="Arial"/>
              <a:cs typeface="Arial"/>
            </a:endParaRPr>
          </a:p>
          <a:p>
            <a:endParaRPr lang="hu-HU" dirty="0">
              <a:ea typeface="Calibri Light"/>
              <a:cs typeface="Calibri Light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4BA33D7-B191-EE62-8A1A-8160F8BD564F}"/>
              </a:ext>
            </a:extLst>
          </p:cNvPr>
          <p:cNvSpPr txBox="1"/>
          <p:nvPr/>
        </p:nvSpPr>
        <p:spPr>
          <a:xfrm>
            <a:off x="81876" y="1135248"/>
            <a:ext cx="647993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025"/>
              </a:lnSpc>
            </a:pPr>
            <a:r>
              <a:rPr lang="hu-HU" b="0" i="0" dirty="0">
                <a:latin typeface="Arial"/>
                <a:ea typeface="Arial"/>
                <a:cs typeface="Arial"/>
              </a:rPr>
              <a:t>A projekt célja a </a:t>
            </a:r>
            <a:r>
              <a:rPr lang="hu-HU" b="1" i="0" dirty="0" err="1">
                <a:latin typeface="Arial"/>
                <a:ea typeface="Arial"/>
                <a:cs typeface="Arial"/>
              </a:rPr>
              <a:t>Vexora</a:t>
            </a:r>
            <a:r>
              <a:rPr lang="hu-HU" b="1" i="0" dirty="0">
                <a:latin typeface="Arial"/>
                <a:ea typeface="Arial"/>
                <a:cs typeface="Arial"/>
              </a:rPr>
              <a:t> </a:t>
            </a:r>
            <a:r>
              <a:rPr lang="hu-HU" b="1" i="0" dirty="0" err="1">
                <a:latin typeface="Arial"/>
                <a:ea typeface="Arial"/>
                <a:cs typeface="Arial"/>
              </a:rPr>
              <a:t>Detailing</a:t>
            </a:r>
            <a:r>
              <a:rPr lang="hu-HU" b="0" i="0" dirty="0">
                <a:latin typeface="Arial"/>
                <a:ea typeface="Arial"/>
                <a:cs typeface="Arial"/>
              </a:rPr>
              <a:t> nevű prémium autókozmetikai vállalkozás online jelenlétének megteremtése és egy interaktív weboldal kifejlesztése. </a:t>
            </a:r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EE96B4C2-5024-496C-A6DA-823A6C22FCAF}"/>
              </a:ext>
            </a:extLst>
          </p:cNvPr>
          <p:cNvSpPr txBox="1"/>
          <p:nvPr/>
        </p:nvSpPr>
        <p:spPr>
          <a:xfrm>
            <a:off x="81876" y="4907144"/>
            <a:ext cx="62205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ts val="2025"/>
              </a:lnSpc>
            </a:pPr>
            <a:r>
              <a:rPr lang="hu-HU" sz="1800" b="0" i="0" dirty="0">
                <a:latin typeface="Arial"/>
                <a:ea typeface="Arial"/>
                <a:cs typeface="Arial"/>
              </a:rPr>
              <a:t>A rendszer lehetővé teszi a látogatók számára, hogy a járművük kategóriája és a választott autóápolási/</a:t>
            </a:r>
            <a:r>
              <a:rPr lang="hu-HU" sz="1800" b="0" i="0" dirty="0" err="1">
                <a:latin typeface="Arial"/>
                <a:ea typeface="Arial"/>
                <a:cs typeface="Arial"/>
              </a:rPr>
              <a:t>detailing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csomagok (pl. külső-belső takarítás, polírozás, kerámia bevonat) alapján azonnali, személyre szabott becslést kapjanak a várható költségekről és a munkavégzés időtartamáról. 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0D261407-B455-4152-80B5-388631409BFE}"/>
              </a:ext>
            </a:extLst>
          </p:cNvPr>
          <p:cNvSpPr txBox="1"/>
          <p:nvPr/>
        </p:nvSpPr>
        <p:spPr>
          <a:xfrm>
            <a:off x="81876" y="2967335"/>
            <a:ext cx="62205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dirty="0">
                <a:latin typeface="Arial"/>
                <a:ea typeface="Arial"/>
                <a:cs typeface="Arial"/>
              </a:rPr>
              <a:t>A weboldal elsődleges funkciója a cég szolgáltatásainak bemutatása mellett egy dinamikus </a:t>
            </a:r>
            <a:r>
              <a:rPr lang="hu-HU" sz="1800" b="1" i="0" dirty="0">
                <a:latin typeface="Arial"/>
                <a:ea typeface="Arial"/>
                <a:cs typeface="Arial"/>
              </a:rPr>
              <a:t>ár- és időtartam-kalkulátor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biztosítása. </a:t>
            </a:r>
            <a:endParaRPr lang="hu-HU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FC430B3E-2627-4708-ABED-B898E59D779F}"/>
              </a:ext>
            </a:extLst>
          </p:cNvPr>
          <p:cNvSpPr txBox="1"/>
          <p:nvPr/>
        </p:nvSpPr>
        <p:spPr>
          <a:xfrm>
            <a:off x="8671960" y="2367170"/>
            <a:ext cx="2039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Specifikáciot</a:t>
            </a:r>
            <a:r>
              <a:rPr lang="hu-HU" dirty="0"/>
              <a:t> </a:t>
            </a:r>
            <a:r>
              <a:rPr lang="hu-HU" dirty="0" err="1"/>
              <a:t>jelemző</a:t>
            </a:r>
            <a:r>
              <a:rPr lang="hu-HU" dirty="0"/>
              <a:t> kép vagy szintén egy </a:t>
            </a:r>
            <a:r>
              <a:rPr lang="hu-HU" dirty="0" err="1"/>
              <a:t>auto</a:t>
            </a:r>
            <a:r>
              <a:rPr lang="hu-HU" dirty="0"/>
              <a:t> kozmetikai kép(</a:t>
            </a:r>
            <a:r>
              <a:rPr lang="hu-HU" dirty="0" err="1"/>
              <a:t>ek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391657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rtalom helye 3">
            <a:extLst>
              <a:ext uri="{FF2B5EF4-FFF2-40B4-BE49-F238E27FC236}">
                <a16:creationId xmlns:a16="http://schemas.microsoft.com/office/drawing/2014/main" id="{FA4B7AE8-3572-41C3-A1E7-85E06A8AE56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14046" y="4904413"/>
            <a:ext cx="10515600" cy="16373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lvl="0" indent="0" algn="l" rtl="0">
              <a:lnSpc>
                <a:spcPts val="2025"/>
              </a:lnSpc>
              <a:buNone/>
            </a:pPr>
            <a:r>
              <a:rPr lang="hu-HU" sz="1800" b="1" i="0" dirty="0">
                <a:latin typeface="Arial"/>
                <a:ea typeface="Arial"/>
                <a:cs typeface="Arial"/>
              </a:rPr>
              <a:t>Időpont-egyeztetés / Ajánlat beküldése: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A kalkuláció végén az ügyfél egyetlen gombnyomással elküldheti az igényét a megadott adataival (név, telefonszám, e-mail, rendszám/típus).</a:t>
            </a:r>
            <a:r>
              <a:rPr sz="1800" b="0" i="0" dirty="0">
                <a:latin typeface="Arial"/>
                <a:ea typeface="Arial"/>
                <a:cs typeface="Arial"/>
              </a:rPr>
              <a:t> </a:t>
            </a:r>
          </a:p>
          <a:p>
            <a:endParaRPr dirty="0"/>
          </a:p>
          <a:p>
            <a:pPr algn="ctr"/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6D79576-9A2B-4AC2-9388-EB7566DE21BF}"/>
              </a:ext>
            </a:extLst>
          </p:cNvPr>
          <p:cNvSpPr txBox="1"/>
          <p:nvPr/>
        </p:nvSpPr>
        <p:spPr>
          <a:xfrm>
            <a:off x="174382" y="595968"/>
            <a:ext cx="609746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ts val="2025"/>
              </a:lnSpc>
              <a:buNone/>
            </a:pPr>
            <a:r>
              <a:rPr lang="hu-HU" sz="1800" b="1" i="0" dirty="0">
                <a:latin typeface="Arial"/>
                <a:ea typeface="Arial"/>
                <a:cs typeface="Arial"/>
              </a:rPr>
              <a:t>Szolgáltatások böngészése: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A látogató áttekintheti a </a:t>
            </a:r>
            <a:r>
              <a:rPr lang="hu-HU" sz="1800" b="0" i="0" dirty="0" err="1">
                <a:latin typeface="Arial"/>
                <a:ea typeface="Arial"/>
                <a:cs typeface="Arial"/>
              </a:rPr>
              <a:t>Vexora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</a:t>
            </a:r>
            <a:r>
              <a:rPr lang="hu-HU" sz="1800" b="0" i="0" dirty="0" err="1">
                <a:latin typeface="Arial"/>
                <a:ea typeface="Arial"/>
                <a:cs typeface="Arial"/>
              </a:rPr>
              <a:t>Detailing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professzionális szolgáltatásait, részletes leírásokkal és referenciákkal. 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20267D4-1CCB-4013-9DDF-5D75B345FAEE}"/>
              </a:ext>
            </a:extLst>
          </p:cNvPr>
          <p:cNvSpPr txBox="1"/>
          <p:nvPr/>
        </p:nvSpPr>
        <p:spPr>
          <a:xfrm>
            <a:off x="6068158" y="2565418"/>
            <a:ext cx="6123842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ts val="2025"/>
              </a:lnSpc>
              <a:buNone/>
            </a:pPr>
            <a:r>
              <a:rPr lang="hu-HU" b="1" i="0" dirty="0">
                <a:latin typeface="Arial"/>
                <a:ea typeface="Arial"/>
                <a:cs typeface="Arial"/>
              </a:rPr>
              <a:t>Interaktív árajánlat-készítés (Kalkulátor):</a:t>
            </a:r>
            <a:r>
              <a:rPr lang="hu-HU" b="0" i="0" dirty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b="0" i="0" dirty="0">
                <a:latin typeface="Arial"/>
                <a:ea typeface="Arial"/>
                <a:cs typeface="Arial"/>
              </a:rPr>
              <a:t>Az ügyfél kiválasztja a jármű kategóriáját 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b="0" i="0" dirty="0">
                <a:latin typeface="Arial"/>
                <a:ea typeface="Arial"/>
                <a:cs typeface="Arial"/>
              </a:rPr>
              <a:t>Kiválasztja a kívánt szolgáltatásokat 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b="0" i="0" dirty="0">
                <a:latin typeface="Arial"/>
                <a:ea typeface="Arial"/>
                <a:cs typeface="Arial"/>
              </a:rPr>
              <a:t>A rendszer automatikusan kiszámítja a becsült árat és a szükséges munkaidőt (pl. 2-3 munkanap). 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EE782F83-7969-45F7-B4D3-943E3D043D61}"/>
              </a:ext>
            </a:extLst>
          </p:cNvPr>
          <p:cNvSpPr txBox="1"/>
          <p:nvPr/>
        </p:nvSpPr>
        <p:spPr>
          <a:xfrm>
            <a:off x="8721969" y="842189"/>
            <a:ext cx="641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9767F290-C620-4553-A523-59548A8A8658}"/>
              </a:ext>
            </a:extLst>
          </p:cNvPr>
          <p:cNvSpPr txBox="1"/>
          <p:nvPr/>
        </p:nvSpPr>
        <p:spPr>
          <a:xfrm>
            <a:off x="2242038" y="2919614"/>
            <a:ext cx="870439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ts val="2025"/>
              </a:lnSpc>
              <a:buNone/>
            </a:pPr>
            <a:r>
              <a:rPr lang="hu-HU" b="0" i="0" dirty="0">
                <a:latin typeface="Arial"/>
                <a:ea typeface="Arial"/>
                <a:cs typeface="Arial"/>
              </a:rPr>
              <a:t>Kép</a:t>
            </a:r>
          </a:p>
          <a:p>
            <a:pPr marL="0" lvl="0" indent="0" algn="l" rtl="0">
              <a:lnSpc>
                <a:spcPts val="2025"/>
              </a:lnSpc>
              <a:buNone/>
            </a:pPr>
            <a:endParaRPr lang="hu-HU" sz="1200" b="0" i="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502903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FD925D-E93C-4FF0-8F36-50F874D3B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962" y="3568861"/>
            <a:ext cx="5290038" cy="1542805"/>
          </a:xfrm>
        </p:spPr>
        <p:txBody>
          <a:bodyPr>
            <a:normAutofit/>
          </a:bodyPr>
          <a:lstStyle/>
          <a:p>
            <a:pPr marL="0" lvl="0" indent="0" algn="l" rtl="0">
              <a:lnSpc>
                <a:spcPts val="2025"/>
              </a:lnSpc>
              <a:buNone/>
            </a:pPr>
            <a:r>
              <a:rPr lang="hu-HU" sz="1900" b="1" i="0" dirty="0">
                <a:latin typeface="Arial"/>
                <a:ea typeface="Arial"/>
                <a:cs typeface="Arial"/>
              </a:rPr>
              <a:t>Nem-funkcionális követelmények:</a:t>
            </a:r>
            <a:r>
              <a:rPr lang="hu-HU" sz="1900" b="0" i="0" dirty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900" b="0" i="0" dirty="0">
                <a:latin typeface="Arial"/>
                <a:ea typeface="Arial"/>
                <a:cs typeface="Arial"/>
              </a:rPr>
              <a:t>Esztétikus, modern, a prémium autóápoláshoz méltó dizájn.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sz="1900" b="0" i="0" dirty="0">
                <a:latin typeface="Arial"/>
                <a:ea typeface="Arial"/>
                <a:cs typeface="Arial"/>
              </a:rPr>
              <a:t>Gyors betöltési idő és zökkenőmentes működés. 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6B46E47-A63F-4DA6-9EAD-7E45FBB045E8}"/>
              </a:ext>
            </a:extLst>
          </p:cNvPr>
          <p:cNvSpPr txBox="1"/>
          <p:nvPr/>
        </p:nvSpPr>
        <p:spPr>
          <a:xfrm>
            <a:off x="805962" y="932961"/>
            <a:ext cx="6097464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ts val="2025"/>
              </a:lnSpc>
              <a:buNone/>
            </a:pPr>
            <a:r>
              <a:rPr lang="hu-HU" b="1" i="0" dirty="0">
                <a:latin typeface="Arial"/>
                <a:ea typeface="Arial"/>
                <a:cs typeface="Arial"/>
              </a:rPr>
              <a:t>Funkcionális követelmények:</a:t>
            </a:r>
            <a:r>
              <a:rPr lang="hu-HU" b="0" i="0" dirty="0">
                <a:latin typeface="Arial"/>
                <a:ea typeface="Arial"/>
                <a:cs typeface="Arial"/>
              </a:rPr>
              <a:t>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b="0" i="0" dirty="0">
                <a:latin typeface="Arial"/>
                <a:ea typeface="Arial"/>
                <a:cs typeface="Arial"/>
              </a:rPr>
              <a:t>Dinamikus árkalkulációs modul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b="0" i="0" dirty="0">
                <a:latin typeface="Arial"/>
                <a:ea typeface="Arial"/>
                <a:cs typeface="Arial"/>
              </a:rPr>
              <a:t>Mobilbarát, reszponzív felület </a:t>
            </a:r>
          </a:p>
          <a:p>
            <a:pPr marL="228600" lvl="1" indent="-228600" algn="l" rtl="0">
              <a:lnSpc>
                <a:spcPts val="2025"/>
              </a:lnSpc>
              <a:buFont typeface="Courier New"/>
              <a:buChar char="•"/>
            </a:pPr>
            <a:r>
              <a:rPr lang="hu-HU" b="0" i="0" dirty="0">
                <a:latin typeface="Arial"/>
                <a:ea typeface="Arial"/>
                <a:cs typeface="Arial"/>
              </a:rPr>
              <a:t>Előtte-utána galéria a referenciamunkák bemutatására. </a:t>
            </a:r>
          </a:p>
          <a:p>
            <a:pPr marL="171450" lvl="1" indent="-171450">
              <a:lnSpc>
                <a:spcPts val="2025"/>
              </a:lnSpc>
            </a:pPr>
            <a:r>
              <a:rPr lang="hu-HU" b="0" i="0" dirty="0">
                <a:latin typeface="Arial"/>
                <a:ea typeface="Arial"/>
                <a:cs typeface="Arial"/>
              </a:rPr>
              <a:t>Kapcsolatfelvételi és ajánlatkérő űrlap. 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B1465CC-7698-45C8-A57A-2061D700E1CD}"/>
              </a:ext>
            </a:extLst>
          </p:cNvPr>
          <p:cNvSpPr txBox="1"/>
          <p:nvPr/>
        </p:nvSpPr>
        <p:spPr>
          <a:xfrm>
            <a:off x="8818684" y="2782669"/>
            <a:ext cx="844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64945641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7D3974-A1AE-C64F-4F45-E8027281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767" y="0"/>
            <a:ext cx="10515600" cy="1325563"/>
          </a:xfrm>
        </p:spPr>
        <p:txBody>
          <a:bodyPr/>
          <a:lstStyle/>
          <a:p>
            <a:r>
              <a:rPr lang="hu-HU" b="1" dirty="0">
                <a:latin typeface="Arial"/>
                <a:cs typeface="Arial"/>
              </a:rPr>
              <a:t>Tervezés</a:t>
            </a:r>
          </a:p>
          <a:p>
            <a:endParaRPr lang="hu-HU" dirty="0">
              <a:ea typeface="Calibri Light"/>
              <a:cs typeface="Calibri Light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FE10868-0813-5A50-9DF3-76EEA12858FA}"/>
              </a:ext>
            </a:extLst>
          </p:cNvPr>
          <p:cNvSpPr txBox="1"/>
          <p:nvPr/>
        </p:nvSpPr>
        <p:spPr>
          <a:xfrm>
            <a:off x="4659922" y="1212758"/>
            <a:ext cx="8554915" cy="9669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2475"/>
              </a:lnSpc>
            </a:pPr>
            <a:r>
              <a:rPr lang="hu-HU" sz="2000" b="1" i="0" u="sng" dirty="0">
                <a:latin typeface="Arial"/>
                <a:ea typeface="Arial"/>
                <a:cs typeface="Arial"/>
              </a:rPr>
              <a:t>Alkalmazás</a:t>
            </a:r>
            <a:r>
              <a:rPr sz="2000" b="1" i="0" u="sng" dirty="0">
                <a:latin typeface="Arial"/>
                <a:ea typeface="Arial"/>
                <a:cs typeface="Arial"/>
              </a:rPr>
              <a:t> </a:t>
            </a:r>
          </a:p>
          <a:p>
            <a:endParaRPr dirty="0"/>
          </a:p>
          <a:p>
            <a:pPr algn="ctr"/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0F292E9B-E870-412D-BBA0-03BBC60837EC}"/>
              </a:ext>
            </a:extLst>
          </p:cNvPr>
          <p:cNvSpPr txBox="1"/>
          <p:nvPr/>
        </p:nvSpPr>
        <p:spPr>
          <a:xfrm>
            <a:off x="2864094" y="3034034"/>
            <a:ext cx="6220558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800" b="1" i="0" dirty="0">
                <a:latin typeface="Arial"/>
                <a:ea typeface="Arial"/>
                <a:cs typeface="Arial"/>
              </a:rPr>
              <a:t>Projekt neve: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</a:t>
            </a:r>
            <a:r>
              <a:rPr lang="hu-HU" sz="1800" b="0" i="0" dirty="0" err="1">
                <a:latin typeface="Arial"/>
                <a:ea typeface="Arial"/>
                <a:cs typeface="Arial"/>
              </a:rPr>
              <a:t>Vexora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</a:t>
            </a:r>
            <a:r>
              <a:rPr lang="hu-HU" sz="1800" b="0" i="0" dirty="0" err="1">
                <a:latin typeface="Arial"/>
                <a:ea typeface="Arial"/>
                <a:cs typeface="Arial"/>
              </a:rPr>
              <a:t>Detailing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Weboldal és Interaktív Kalkulátor 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7214B334-4249-4E86-B865-40753858AD45}"/>
              </a:ext>
            </a:extLst>
          </p:cNvPr>
          <p:cNvSpPr txBox="1"/>
          <p:nvPr/>
        </p:nvSpPr>
        <p:spPr>
          <a:xfrm>
            <a:off x="2864094" y="3798433"/>
            <a:ext cx="6220558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800" b="1" i="0" dirty="0">
                <a:latin typeface="Arial"/>
                <a:ea typeface="Arial"/>
                <a:cs typeface="Arial"/>
              </a:rPr>
              <a:t>Célcsoport: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Igényes autó, prémium kategóriás jármű tulajdonosok 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8128B67-4A95-4AEF-B720-6A9BE546CCAA}"/>
              </a:ext>
            </a:extLst>
          </p:cNvPr>
          <p:cNvSpPr txBox="1"/>
          <p:nvPr/>
        </p:nvSpPr>
        <p:spPr>
          <a:xfrm>
            <a:off x="2864094" y="4481121"/>
            <a:ext cx="6220558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800" b="1" i="0" dirty="0">
                <a:latin typeface="Arial"/>
                <a:ea typeface="Arial"/>
                <a:cs typeface="Arial"/>
              </a:rPr>
              <a:t>Technológiai környezet:</a:t>
            </a:r>
            <a:r>
              <a:rPr lang="hu-HU" sz="1800" b="0" i="0" dirty="0">
                <a:latin typeface="Arial"/>
                <a:ea typeface="Arial"/>
                <a:cs typeface="Arial"/>
              </a:rPr>
              <a:t> 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8AFFED19-2B67-4D67-BCCE-D7DADCAF3C22}"/>
              </a:ext>
            </a:extLst>
          </p:cNvPr>
          <p:cNvSpPr txBox="1"/>
          <p:nvPr/>
        </p:nvSpPr>
        <p:spPr>
          <a:xfrm>
            <a:off x="2864094" y="2504968"/>
            <a:ext cx="6220558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ts val="1781"/>
              </a:lnSpc>
            </a:pPr>
            <a:r>
              <a:rPr lang="hu-HU" sz="1800" b="1" i="0" dirty="0">
                <a:latin typeface="Calibri Light"/>
                <a:ea typeface="Calibri Light"/>
                <a:cs typeface="Calibri Light"/>
              </a:rPr>
              <a:t>Alap információk</a:t>
            </a:r>
            <a:r>
              <a:rPr lang="hu-HU" sz="1800" b="1" dirty="0">
                <a:latin typeface="Calibri Light"/>
                <a:ea typeface="Calibri Light"/>
                <a:cs typeface="Calibri Light"/>
              </a:rPr>
              <a:t>:</a:t>
            </a:r>
            <a:endParaRPr lang="hu-HU" sz="1800" b="1" i="0" dirty="0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91952510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BF441A-BC39-4BB6-A46F-24A002D8C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5803" y="145902"/>
            <a:ext cx="10515600" cy="4351338"/>
          </a:xfrm>
        </p:spPr>
        <p:txBody>
          <a:bodyPr/>
          <a:lstStyle/>
          <a:p>
            <a:pPr marL="0" indent="0" algn="l" rtl="0">
              <a:lnSpc>
                <a:spcPts val="1781"/>
              </a:lnSpc>
              <a:buNone/>
            </a:pPr>
            <a:r>
              <a:rPr lang="hu-HU" sz="2400" b="1" u="sng" dirty="0">
                <a:latin typeface="Calibri Light"/>
                <a:ea typeface="Calibri Light"/>
                <a:cs typeface="Calibri Light"/>
              </a:rPr>
              <a:t>T</a:t>
            </a:r>
            <a:r>
              <a:rPr lang="hu-HU" sz="2400" b="1" i="0" u="sng" dirty="0">
                <a:latin typeface="Calibri Light"/>
                <a:ea typeface="Calibri Light"/>
                <a:cs typeface="Calibri Light"/>
              </a:rPr>
              <a:t>elepített szolgáltatások és egyéb alkalmazások 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2630321-3779-4865-AD03-A3592E8467A8}"/>
              </a:ext>
            </a:extLst>
          </p:cNvPr>
          <p:cNvSpPr txBox="1"/>
          <p:nvPr/>
        </p:nvSpPr>
        <p:spPr>
          <a:xfrm>
            <a:off x="3045803" y="2941714"/>
            <a:ext cx="609746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800" b="1" i="0" dirty="0">
                <a:latin typeface="Arial"/>
                <a:ea typeface="Arial"/>
                <a:cs typeface="Arial"/>
              </a:rPr>
              <a:t>Webszerver és Tárhely:</a:t>
            </a:r>
            <a:endParaRPr lang="hu-HU" sz="1800" b="0" i="0" dirty="0">
              <a:latin typeface="Arial"/>
              <a:ea typeface="Arial"/>
              <a:cs typeface="Arial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1451CBA-C99C-478C-8D9D-1E35B9E15F39}"/>
              </a:ext>
            </a:extLst>
          </p:cNvPr>
          <p:cNvSpPr txBox="1"/>
          <p:nvPr/>
        </p:nvSpPr>
        <p:spPr>
          <a:xfrm>
            <a:off x="3045803" y="4241958"/>
            <a:ext cx="609746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800" b="1" i="0" dirty="0">
                <a:latin typeface="Arial"/>
                <a:ea typeface="Arial"/>
                <a:cs typeface="Arial"/>
              </a:rPr>
              <a:t>Képoptimalizáló modul: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A feltöltött nagy felbontású referenciaképek automatikus tömörítése a gyors oldalbetöltésért. 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F8A34B3-5AFB-41B5-AE3E-E36BB5570366}"/>
              </a:ext>
            </a:extLst>
          </p:cNvPr>
          <p:cNvSpPr txBox="1"/>
          <p:nvPr/>
        </p:nvSpPr>
        <p:spPr>
          <a:xfrm>
            <a:off x="3045803" y="1459797"/>
            <a:ext cx="609746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800" b="1" i="0" dirty="0">
                <a:latin typeface="Arial"/>
                <a:ea typeface="Arial"/>
                <a:cs typeface="Arial"/>
              </a:rPr>
              <a:t>Email / Értesítési rendszer: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Azonnali e-mail értesítés küldése a műhelynek, ha egy ügyfél árajánlatot kér a kalkulátoron keresztül. </a:t>
            </a:r>
          </a:p>
        </p:txBody>
      </p:sp>
    </p:spTree>
    <p:extLst>
      <p:ext uri="{BB962C8B-B14F-4D97-AF65-F5344CB8AC3E}">
        <p14:creationId xmlns:p14="http://schemas.microsoft.com/office/powerpoint/2010/main" val="2648066028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4EA305-5E25-48F8-8629-ECE88D7D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638" y="254524"/>
            <a:ext cx="10515600" cy="958362"/>
          </a:xfrm>
        </p:spPr>
        <p:txBody>
          <a:bodyPr>
            <a:normAutofit/>
          </a:bodyPr>
          <a:lstStyle/>
          <a:p>
            <a:r>
              <a:rPr lang="hu-HU" sz="2400" b="1" u="sng" dirty="0">
                <a:latin typeface="Calibri Light"/>
                <a:ea typeface="Calibri Light"/>
                <a:cs typeface="Calibri Light"/>
              </a:rPr>
              <a:t>A rendszer felhasználói fiókok és csoportjai</a:t>
            </a:r>
            <a:r>
              <a:rPr lang="en-US" sz="2400" b="1" u="sng" dirty="0">
                <a:latin typeface="Calibri Light"/>
                <a:ea typeface="Calibri Light"/>
                <a:cs typeface="Calibri Light"/>
              </a:rPr>
              <a:t> </a:t>
            </a:r>
            <a:br>
              <a:rPr lang="en-US" sz="4400" b="1" u="sng" dirty="0">
                <a:latin typeface="Calibri Light"/>
                <a:ea typeface="Calibri Light"/>
                <a:cs typeface="Calibri Light"/>
              </a:rPr>
            </a:br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44C47BA-1FEF-491A-BD21-85DA71097912}"/>
              </a:ext>
            </a:extLst>
          </p:cNvPr>
          <p:cNvSpPr txBox="1"/>
          <p:nvPr/>
        </p:nvSpPr>
        <p:spPr>
          <a:xfrm>
            <a:off x="6096000" y="2439724"/>
            <a:ext cx="613703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ts val="2025"/>
              </a:lnSpc>
              <a:buFont typeface="Symbol,sans-serif"/>
              <a:buChar char="•"/>
            </a:pPr>
            <a:r>
              <a:rPr lang="hu-HU" b="1" dirty="0">
                <a:latin typeface="Arial"/>
                <a:cs typeface="Arial"/>
              </a:rPr>
              <a:t>Látogató / Ügyfél:</a:t>
            </a:r>
            <a:r>
              <a:rPr lang="en-US" dirty="0">
                <a:latin typeface="Arial"/>
                <a:cs typeface="Arial"/>
              </a:rPr>
              <a:t> </a:t>
            </a: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dirty="0">
                <a:latin typeface="Arial"/>
                <a:cs typeface="Arial"/>
              </a:rPr>
              <a:t>Böngészheti a szolgáltatásokat és a galériát.</a:t>
            </a:r>
            <a:r>
              <a:rPr lang="en-US" dirty="0">
                <a:latin typeface="Arial"/>
                <a:cs typeface="Arial"/>
              </a:rPr>
              <a:t> </a:t>
            </a: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dirty="0">
                <a:latin typeface="Arial"/>
                <a:cs typeface="Arial"/>
              </a:rPr>
              <a:t>Használhatja az árajánlat-kalkulátort regisztráció nélkül is.</a:t>
            </a:r>
            <a:r>
              <a:rPr lang="en-US" dirty="0">
                <a:latin typeface="Arial"/>
                <a:cs typeface="Arial"/>
              </a:rPr>
              <a:t> </a:t>
            </a: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dirty="0">
                <a:latin typeface="Arial"/>
                <a:cs typeface="Arial"/>
              </a:rPr>
              <a:t>Ajánlatot küldhet be a megadott adataival.</a:t>
            </a:r>
            <a:r>
              <a:rPr lang="en-US" dirty="0">
                <a:latin typeface="Arial"/>
                <a:cs typeface="Arial"/>
              </a:rPr>
              <a:t> 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6141623-A37F-4210-BD9B-6534B7141F4F}"/>
              </a:ext>
            </a:extLst>
          </p:cNvPr>
          <p:cNvSpPr txBox="1"/>
          <p:nvPr/>
        </p:nvSpPr>
        <p:spPr>
          <a:xfrm>
            <a:off x="70338" y="2439724"/>
            <a:ext cx="613703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ts val="2025"/>
              </a:lnSpc>
              <a:buFont typeface="Symbol,sans-serif"/>
              <a:buChar char="•"/>
            </a:pPr>
            <a:r>
              <a:rPr lang="hu-HU" b="1" dirty="0">
                <a:latin typeface="Arial"/>
                <a:cs typeface="Arial"/>
              </a:rPr>
              <a:t>Adminisztrátor (</a:t>
            </a:r>
            <a:r>
              <a:rPr lang="hu-HU" b="1" dirty="0" err="1">
                <a:latin typeface="Arial"/>
                <a:cs typeface="Arial"/>
              </a:rPr>
              <a:t>Vexora</a:t>
            </a:r>
            <a:r>
              <a:rPr lang="hu-HU" b="1" dirty="0">
                <a:latin typeface="Arial"/>
                <a:cs typeface="Arial"/>
              </a:rPr>
              <a:t> Műhelyvezető):</a:t>
            </a:r>
            <a:r>
              <a:rPr lang="en-US" dirty="0">
                <a:latin typeface="Arial"/>
                <a:cs typeface="Arial"/>
              </a:rPr>
              <a:t> </a:t>
            </a:r>
          </a:p>
          <a:p>
            <a:endParaRPr lang="en-US" dirty="0">
              <a:ea typeface="Calibri"/>
              <a:cs typeface="Calibri"/>
            </a:endParaRP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dirty="0">
                <a:latin typeface="Arial"/>
                <a:cs typeface="Arial"/>
              </a:rPr>
              <a:t>Kezelheti a kalkulátor árait, járműkategóriáit és szolgáltatásait a háttérben (CMS felületen keresztül).</a:t>
            </a:r>
            <a:r>
              <a:rPr lang="en-US" dirty="0">
                <a:latin typeface="Arial"/>
                <a:cs typeface="Arial"/>
              </a:rPr>
              <a:t> </a:t>
            </a: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dirty="0">
                <a:latin typeface="Arial"/>
                <a:cs typeface="Arial"/>
              </a:rPr>
              <a:t>Megtekintheti és kezelheti a weboldalon </a:t>
            </a:r>
            <a:r>
              <a:rPr lang="hu-HU" dirty="0" err="1">
                <a:latin typeface="Arial"/>
                <a:cs typeface="Arial"/>
              </a:rPr>
              <a:t>beértkezett</a:t>
            </a:r>
            <a:r>
              <a:rPr lang="hu-HU" dirty="0">
                <a:latin typeface="Arial"/>
                <a:cs typeface="Arial"/>
              </a:rPr>
              <a:t> árajánlatkéréseket.</a:t>
            </a:r>
            <a:r>
              <a:rPr lang="en-US" dirty="0">
                <a:latin typeface="Arial"/>
                <a:cs typeface="Arial"/>
              </a:rPr>
              <a:t> </a:t>
            </a:r>
          </a:p>
          <a:p>
            <a:pPr marL="228600" lvl="1" indent="-228600">
              <a:lnSpc>
                <a:spcPts val="2025"/>
              </a:lnSpc>
              <a:buFont typeface="Courier New,monospace"/>
              <a:buChar char="•"/>
            </a:pPr>
            <a:r>
              <a:rPr lang="hu-HU" dirty="0">
                <a:latin typeface="Arial"/>
                <a:cs typeface="Arial"/>
              </a:rPr>
              <a:t>Feltöltheti a friss "előtte-utána" fotókat a referenciák közé.</a:t>
            </a:r>
            <a:r>
              <a:rPr lang="en-US" dirty="0">
                <a:latin typeface="Arial"/>
                <a:cs typeface="Arial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0670577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44354D-C145-4299-978C-0A76F64E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715" y="0"/>
            <a:ext cx="10515600" cy="1072662"/>
          </a:xfrm>
        </p:spPr>
        <p:txBody>
          <a:bodyPr>
            <a:normAutofit/>
          </a:bodyPr>
          <a:lstStyle/>
          <a:p>
            <a:r>
              <a:rPr lang="hu-HU" sz="2200" b="1" i="0" u="sng" dirty="0">
                <a:latin typeface="Calibri Light"/>
                <a:ea typeface="Calibri Light"/>
                <a:cs typeface="Calibri Light"/>
              </a:rPr>
              <a:t>Mentés és monitorozás </a:t>
            </a:r>
            <a:br>
              <a:rPr lang="hu-HU" sz="4400" b="1" i="0" u="sng" dirty="0">
                <a:latin typeface="Calibri Light"/>
                <a:ea typeface="Calibri Light"/>
                <a:cs typeface="Calibri Light"/>
              </a:rPr>
            </a:br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CD4E8FD-E6D5-455B-91EE-17EA00B1F793}"/>
              </a:ext>
            </a:extLst>
          </p:cNvPr>
          <p:cNvSpPr txBox="1"/>
          <p:nvPr/>
        </p:nvSpPr>
        <p:spPr>
          <a:xfrm>
            <a:off x="6096000" y="5486335"/>
            <a:ext cx="61370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800" b="1" i="0" dirty="0">
                <a:latin typeface="Arial"/>
                <a:ea typeface="Arial"/>
                <a:cs typeface="Arial"/>
              </a:rPr>
              <a:t>Adatmentés: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Heti automatikus biztonsági mentés a weboldal fájljairól és az adatbázisról az esetleges adatvesztés megelőzésére. 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68FB8AF-B6E3-49A3-A91C-E931BB353323}"/>
              </a:ext>
            </a:extLst>
          </p:cNvPr>
          <p:cNvSpPr txBox="1"/>
          <p:nvPr/>
        </p:nvSpPr>
        <p:spPr>
          <a:xfrm>
            <a:off x="0" y="1488421"/>
            <a:ext cx="61370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l" rtl="0">
              <a:lnSpc>
                <a:spcPts val="2025"/>
              </a:lnSpc>
              <a:buFont typeface="Symbol"/>
              <a:buChar char="•"/>
            </a:pPr>
            <a:r>
              <a:rPr lang="hu-HU" sz="1800" b="1" i="0" dirty="0">
                <a:latin typeface="Arial"/>
                <a:ea typeface="Arial"/>
                <a:cs typeface="Arial"/>
              </a:rPr>
              <a:t>Monitorozás:</a:t>
            </a:r>
            <a:r>
              <a:rPr lang="hu-HU" sz="1800" b="0" i="0" dirty="0">
                <a:latin typeface="Arial"/>
                <a:ea typeface="Arial"/>
                <a:cs typeface="Arial"/>
              </a:rPr>
              <a:t> Weboldal elérhetőségének ellenőrzése és SSL-tanúsítvány (biztonságos HTTPS kapcsolat) folyamatos felügyelete. </a:t>
            </a:r>
          </a:p>
        </p:txBody>
      </p:sp>
    </p:spTree>
    <p:extLst>
      <p:ext uri="{BB962C8B-B14F-4D97-AF65-F5344CB8AC3E}">
        <p14:creationId xmlns:p14="http://schemas.microsoft.com/office/powerpoint/2010/main" val="717366566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A6C07D-936C-48B1-9601-04E51CD0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429" y="0"/>
            <a:ext cx="9905998" cy="1478570"/>
          </a:xfrm>
        </p:spPr>
        <p:txBody>
          <a:bodyPr/>
          <a:lstStyle/>
          <a:p>
            <a:r>
              <a:rPr lang="hu-HU" dirty="0">
                <a:latin typeface="Consolas" panose="020B0609020204030204" pitchFamily="49" charset="0"/>
              </a:rPr>
              <a:t>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AA7804-03FC-4B96-B487-751624FEC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Visual </a:t>
            </a:r>
            <a:r>
              <a:rPr lang="hu-HU" dirty="0" err="1"/>
              <a:t>studio</a:t>
            </a:r>
            <a:r>
              <a:rPr lang="hu-HU" dirty="0"/>
              <a:t>: c#</a:t>
            </a:r>
          </a:p>
        </p:txBody>
      </p:sp>
    </p:spTree>
    <p:extLst>
      <p:ext uri="{BB962C8B-B14F-4D97-AF65-F5344CB8AC3E}">
        <p14:creationId xmlns:p14="http://schemas.microsoft.com/office/powerpoint/2010/main" val="343670221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3D941C-60FF-4834-939C-7F86F125B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297" y="249242"/>
            <a:ext cx="9905998" cy="1478570"/>
          </a:xfrm>
        </p:spPr>
        <p:txBody>
          <a:bodyPr/>
          <a:lstStyle/>
          <a:p>
            <a:r>
              <a:rPr lang="hu-HU" dirty="0" err="1"/>
              <a:t>Model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EF5B5A-8B7E-4A67-8F3B-79C1D93E1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168075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7AA373-A165-4D8C-84B8-0E688A0D4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27" y="458262"/>
            <a:ext cx="9905998" cy="1478570"/>
          </a:xfrm>
        </p:spPr>
        <p:txBody>
          <a:bodyPr/>
          <a:lstStyle/>
          <a:p>
            <a:r>
              <a:rPr lang="hu-HU" dirty="0" err="1"/>
              <a:t>COntroller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C9C6DDB-563E-40A6-8FAC-CD0B6B42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4032498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BF5992-E286-4551-B5A7-C2128A38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59" y="8792"/>
            <a:ext cx="9905998" cy="1478570"/>
          </a:xfrm>
        </p:spPr>
        <p:txBody>
          <a:bodyPr/>
          <a:lstStyle/>
          <a:p>
            <a:r>
              <a:rPr lang="hu-HU" dirty="0"/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8E22D6A-0B0C-46CE-B1A7-609055FB3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Visual </a:t>
            </a:r>
            <a:r>
              <a:rPr lang="hu-HU" dirty="0" err="1"/>
              <a:t>studio</a:t>
            </a:r>
            <a:r>
              <a:rPr lang="hu-HU" dirty="0"/>
              <a:t> </a:t>
            </a:r>
            <a:r>
              <a:rPr lang="hu-HU" dirty="0" err="1"/>
              <a:t>code</a:t>
            </a:r>
            <a:r>
              <a:rPr lang="hu-HU" dirty="0"/>
              <a:t>: </a:t>
            </a:r>
            <a:r>
              <a:rPr lang="hu-HU" dirty="0" err="1"/>
              <a:t>html,javascript,css,bootstrap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11633422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A80D85-8A8C-4396-9FCA-3C5BAF13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467" y="0"/>
            <a:ext cx="9905998" cy="1478570"/>
          </a:xfrm>
        </p:spPr>
        <p:txBody>
          <a:bodyPr/>
          <a:lstStyle/>
          <a:p>
            <a:r>
              <a:rPr lang="hu-HU" dirty="0"/>
              <a:t>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33C9C0-2421-48F6-A3E2-3CA6D50B6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MariaDB</a:t>
            </a:r>
            <a:r>
              <a:rPr lang="hu-HU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27270018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C92FB1-53FB-4A49-BE5D-FC54861ED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60" y="152526"/>
            <a:ext cx="9905998" cy="1478570"/>
          </a:xfrm>
        </p:spPr>
        <p:txBody>
          <a:bodyPr/>
          <a:lstStyle/>
          <a:p>
            <a:r>
              <a:rPr lang="hu-HU" dirty="0" err="1"/>
              <a:t>Responsivity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40F42F2-35ED-4C80-B3A4-C030BDA81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5336410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0A90FB-1D3C-4342-B810-356DECA1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hu-HU" dirty="0"/>
              <a:t>Tesztelés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4510F1-2C47-4DF1-A6B3-8A8DFD532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5804418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60B8C0-6303-4E53-BBA5-CEB32DB1B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94268"/>
            <a:ext cx="9905998" cy="1478570"/>
          </a:xfrm>
        </p:spPr>
        <p:txBody>
          <a:bodyPr/>
          <a:lstStyle/>
          <a:p>
            <a:r>
              <a:rPr lang="hu-HU" dirty="0"/>
              <a:t>csapatmunka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3B059E-B8DF-48BE-8FAC-5D2C27DA1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336356"/>
            <a:ext cx="9905999" cy="3541714"/>
          </a:xfrm>
        </p:spPr>
        <p:txBody>
          <a:bodyPr/>
          <a:lstStyle/>
          <a:p>
            <a:r>
              <a:rPr lang="hu-HU" dirty="0" err="1"/>
              <a:t>Discord</a:t>
            </a:r>
            <a:r>
              <a:rPr lang="hu-HU" dirty="0"/>
              <a:t>(beszélgetés)</a:t>
            </a:r>
          </a:p>
          <a:p>
            <a:r>
              <a:rPr lang="hu-HU" dirty="0"/>
              <a:t>Tiszta kód</a:t>
            </a:r>
          </a:p>
          <a:p>
            <a:r>
              <a:rPr lang="hu-HU" dirty="0" err="1"/>
              <a:t>Github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13554238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1F5512-F406-4009-8C52-DBE498A4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618" y="174154"/>
            <a:ext cx="9905998" cy="1478570"/>
          </a:xfrm>
        </p:spPr>
        <p:txBody>
          <a:bodyPr/>
          <a:lstStyle/>
          <a:p>
            <a:r>
              <a:rPr lang="hu-HU" dirty="0"/>
              <a:t>Munkamegosztás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3B4B243-D64A-428D-86A1-19F33982AA63}"/>
              </a:ext>
            </a:extLst>
          </p:cNvPr>
          <p:cNvSpPr txBox="1"/>
          <p:nvPr/>
        </p:nvSpPr>
        <p:spPr>
          <a:xfrm>
            <a:off x="5031530" y="1421891"/>
            <a:ext cx="6950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u="sng" dirty="0"/>
              <a:t>Frontend</a:t>
            </a:r>
            <a:r>
              <a:rPr lang="hu-HU" dirty="0"/>
              <a:t>: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77791832-9108-483A-BAFA-05E7DCC9F049}"/>
              </a:ext>
            </a:extLst>
          </p:cNvPr>
          <p:cNvSpPr txBox="1"/>
          <p:nvPr/>
        </p:nvSpPr>
        <p:spPr>
          <a:xfrm>
            <a:off x="6191128" y="2417442"/>
            <a:ext cx="6950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800" dirty="0"/>
              <a:t>Hegedüs Milán: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00C4F9BD-A631-43A2-A834-A2083BD978F2}"/>
              </a:ext>
            </a:extLst>
          </p:cNvPr>
          <p:cNvSpPr txBox="1"/>
          <p:nvPr/>
        </p:nvSpPr>
        <p:spPr>
          <a:xfrm>
            <a:off x="-2553902" y="2417442"/>
            <a:ext cx="6950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800" dirty="0"/>
              <a:t>Joó Zoltán: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EF84411E-D738-4BA2-AF49-FBBF3F12434B}"/>
              </a:ext>
            </a:extLst>
          </p:cNvPr>
          <p:cNvSpPr txBox="1"/>
          <p:nvPr/>
        </p:nvSpPr>
        <p:spPr>
          <a:xfrm>
            <a:off x="1489429" y="2390998"/>
            <a:ext cx="8347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800" dirty="0"/>
              <a:t>Deák Bence:</a:t>
            </a:r>
          </a:p>
        </p:txBody>
      </p:sp>
    </p:spTree>
    <p:extLst>
      <p:ext uri="{BB962C8B-B14F-4D97-AF65-F5344CB8AC3E}">
        <p14:creationId xmlns:p14="http://schemas.microsoft.com/office/powerpoint/2010/main" val="4234692312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1F5512-F406-4009-8C52-DBE498A4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137" y="216215"/>
            <a:ext cx="9905998" cy="1478570"/>
          </a:xfrm>
        </p:spPr>
        <p:txBody>
          <a:bodyPr/>
          <a:lstStyle/>
          <a:p>
            <a:r>
              <a:rPr lang="hu-HU" dirty="0"/>
              <a:t>Munkamegosztás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5CED86D-9152-47E3-947D-FB6F8B532C78}"/>
              </a:ext>
            </a:extLst>
          </p:cNvPr>
          <p:cNvSpPr txBox="1"/>
          <p:nvPr/>
        </p:nvSpPr>
        <p:spPr>
          <a:xfrm>
            <a:off x="5037869" y="1463953"/>
            <a:ext cx="6106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u="sng" dirty="0"/>
              <a:t>Backend</a:t>
            </a:r>
            <a:r>
              <a:rPr lang="hu-HU" dirty="0"/>
              <a:t>: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77791832-9108-483A-BAFA-05E7DCC9F049}"/>
              </a:ext>
            </a:extLst>
          </p:cNvPr>
          <p:cNvSpPr txBox="1"/>
          <p:nvPr/>
        </p:nvSpPr>
        <p:spPr>
          <a:xfrm>
            <a:off x="6191128" y="2352283"/>
            <a:ext cx="6950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800" dirty="0"/>
              <a:t>Hegedüs Milán: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00C4F9BD-A631-43A2-A834-A2083BD978F2}"/>
              </a:ext>
            </a:extLst>
          </p:cNvPr>
          <p:cNvSpPr txBox="1"/>
          <p:nvPr/>
        </p:nvSpPr>
        <p:spPr>
          <a:xfrm>
            <a:off x="-2490528" y="2352283"/>
            <a:ext cx="6950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800" dirty="0"/>
              <a:t>Joó Zoltán: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EF84411E-D738-4BA2-AF49-FBBF3F12434B}"/>
              </a:ext>
            </a:extLst>
          </p:cNvPr>
          <p:cNvSpPr txBox="1"/>
          <p:nvPr/>
        </p:nvSpPr>
        <p:spPr>
          <a:xfrm>
            <a:off x="1482573" y="2352283"/>
            <a:ext cx="8347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800" dirty="0"/>
              <a:t>Deák Bence:</a:t>
            </a:r>
          </a:p>
        </p:txBody>
      </p:sp>
    </p:spTree>
    <p:extLst>
      <p:ext uri="{BB962C8B-B14F-4D97-AF65-F5344CB8AC3E}">
        <p14:creationId xmlns:p14="http://schemas.microsoft.com/office/powerpoint/2010/main" val="1968432360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1F5512-F406-4009-8C52-DBE498A4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244" y="131391"/>
            <a:ext cx="9905998" cy="1478570"/>
          </a:xfrm>
        </p:spPr>
        <p:txBody>
          <a:bodyPr/>
          <a:lstStyle/>
          <a:p>
            <a:r>
              <a:rPr lang="hu-HU" dirty="0"/>
              <a:t>Munkamegosztás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5940077-0161-476B-BD94-AEEE8EE11CEC}"/>
              </a:ext>
            </a:extLst>
          </p:cNvPr>
          <p:cNvSpPr txBox="1"/>
          <p:nvPr/>
        </p:nvSpPr>
        <p:spPr>
          <a:xfrm>
            <a:off x="4904649" y="1379128"/>
            <a:ext cx="6106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u="sng" dirty="0"/>
              <a:t>Adatbázis</a:t>
            </a:r>
            <a:r>
              <a:rPr lang="hu-HU" dirty="0"/>
              <a:t>: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77791832-9108-483A-BAFA-05E7DCC9F049}"/>
              </a:ext>
            </a:extLst>
          </p:cNvPr>
          <p:cNvSpPr txBox="1"/>
          <p:nvPr/>
        </p:nvSpPr>
        <p:spPr>
          <a:xfrm>
            <a:off x="6096000" y="2381257"/>
            <a:ext cx="6950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800" dirty="0"/>
              <a:t>Hegedüs Milán: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00C4F9BD-A631-43A2-A834-A2083BD978F2}"/>
              </a:ext>
            </a:extLst>
          </p:cNvPr>
          <p:cNvSpPr txBox="1"/>
          <p:nvPr/>
        </p:nvSpPr>
        <p:spPr>
          <a:xfrm>
            <a:off x="-2553902" y="2417442"/>
            <a:ext cx="6950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800" dirty="0"/>
              <a:t>Joó Zoltán: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EF84411E-D738-4BA2-AF49-FBBF3F12434B}"/>
              </a:ext>
            </a:extLst>
          </p:cNvPr>
          <p:cNvSpPr txBox="1"/>
          <p:nvPr/>
        </p:nvSpPr>
        <p:spPr>
          <a:xfrm>
            <a:off x="1373931" y="2381257"/>
            <a:ext cx="8347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800" dirty="0"/>
              <a:t>Deák Bence:</a:t>
            </a:r>
          </a:p>
        </p:txBody>
      </p:sp>
    </p:spTree>
    <p:extLst>
      <p:ext uri="{BB962C8B-B14F-4D97-AF65-F5344CB8AC3E}">
        <p14:creationId xmlns:p14="http://schemas.microsoft.com/office/powerpoint/2010/main" val="3787720111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73A856-500D-4F83-9948-26626CDB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961" y="0"/>
            <a:ext cx="1733762" cy="1478570"/>
          </a:xfrm>
          <a:noFill/>
        </p:spPr>
        <p:txBody>
          <a:bodyPr>
            <a:normAutofit/>
          </a:bodyPr>
          <a:lstStyle/>
          <a:p>
            <a:r>
              <a:rPr lang="hu-HU" dirty="0" err="1"/>
              <a:t>Demo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35D271-2F94-45A0-9C2C-F2D629211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99427092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47672C-9656-472B-89CA-47BD6CDD2CA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hu-HU" dirty="0"/>
              <a:t>Publikálás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C85EAE-784B-44AC-BAB2-FEBD0EAF3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3631914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TM04033919[[fn=Áramkör]]</Template>
  <TotalTime>118</TotalTime>
  <Words>507</Words>
  <Application>Microsoft Office PowerPoint</Application>
  <PresentationFormat>Szélesvásznú</PresentationFormat>
  <Paragraphs>95</Paragraphs>
  <Slides>23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Courier New</vt:lpstr>
      <vt:lpstr>Courier New,monospace</vt:lpstr>
      <vt:lpstr>Symbol</vt:lpstr>
      <vt:lpstr>Symbol,sans-serif</vt:lpstr>
      <vt:lpstr>Tw Cen MT</vt:lpstr>
      <vt:lpstr>Áramkör</vt:lpstr>
      <vt:lpstr>Autó Kozmetika</vt:lpstr>
      <vt:lpstr>Bevezetés</vt:lpstr>
      <vt:lpstr>Funkciók</vt:lpstr>
      <vt:lpstr>Specifikáció  </vt:lpstr>
      <vt:lpstr>PowerPoint-bemutató</vt:lpstr>
      <vt:lpstr>PowerPoint-bemutató</vt:lpstr>
      <vt:lpstr>Tervezés </vt:lpstr>
      <vt:lpstr>PowerPoint-bemutató</vt:lpstr>
      <vt:lpstr>A rendszer felhasználói fiókok és csoportjai  </vt:lpstr>
      <vt:lpstr>Mentés és monitorozás  </vt:lpstr>
      <vt:lpstr>Backend</vt:lpstr>
      <vt:lpstr>Model</vt:lpstr>
      <vt:lpstr>COntroller</vt:lpstr>
      <vt:lpstr>Frontend</vt:lpstr>
      <vt:lpstr>Adatbázis</vt:lpstr>
      <vt:lpstr>Responsivity</vt:lpstr>
      <vt:lpstr>Tesztelés</vt:lpstr>
      <vt:lpstr>csapatmunka</vt:lpstr>
      <vt:lpstr>Munkamegosztás</vt:lpstr>
      <vt:lpstr>Munkamegosztás</vt:lpstr>
      <vt:lpstr>Munkamegosztás</vt:lpstr>
      <vt:lpstr>Demo</vt:lpstr>
      <vt:lpstr>Publikálás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Autó Kozmetika</dc:title>
  <dc:creator>Deák Bence István</dc:creator>
  <cp:lastModifiedBy>Deák Bence István</cp:lastModifiedBy>
  <cp:revision>70</cp:revision>
  <dcterms:created xsi:type="dcterms:W3CDTF">2026-09-24T11:08:48Z</dcterms:created>
  <dcterms:modified xsi:type="dcterms:W3CDTF">2026-10-01T11:23:38Z</dcterms:modified>
</cp:coreProperties>
</file>